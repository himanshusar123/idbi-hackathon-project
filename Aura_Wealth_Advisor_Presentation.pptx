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06B6D4"/>
                </a:solidFill>
                <a:latin typeface="Outfit"/>
              </a:defRPr>
            </a:pPr>
            <a:r>
              <a:t>AURA WEALTH</a:t>
            </a:r>
          </a:p>
          <a:p>
            <a:pPr>
              <a:spcBef>
                <a:spcPts val="1200"/>
              </a:spcBef>
              <a:defRPr sz="2200">
                <a:solidFill>
                  <a:srgbClr val="8B5CF6"/>
                </a:solidFill>
                <a:latin typeface="Inter"/>
              </a:defRPr>
            </a:pPr>
            <a:r>
              <a:t>Next-Gen AI-Powered Avatar Wealth Advisor for Modern Banking</a:t>
            </a:r>
          </a:p>
          <a:p>
            <a:pPr>
              <a:spcBef>
                <a:spcPts val="3000"/>
              </a:spcBef>
              <a:defRPr sz="1400">
                <a:solidFill>
                  <a:srgbClr val="94A3B8"/>
                </a:solidFill>
                <a:latin typeface="Inter"/>
              </a:defRPr>
            </a:pPr>
            <a:r>
              <a:t>Personalized • Scalable • Conversational Wealth Advisory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6B6D4"/>
                </a:solidFill>
                <a:latin typeface="Outfit"/>
              </a:defRPr>
            </a:pPr>
            <a:r>
              <a:t>The Fragmented Wealth Management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80160"/>
            <a:ext cx="18288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Outfit"/>
              </a:defRPr>
            </a:pPr>
            <a:r>
              <a:t>Key Market Pain Points:</a:t>
            </a:r>
          </a:p>
          <a:p>
            <a:pPr>
              <a:spcBef>
                <a:spcPts val="1400"/>
              </a:spcBef>
              <a:defRPr sz="1400">
                <a:solidFill>
                  <a:srgbClr val="94A3B8"/>
                </a:solidFill>
                <a:latin typeface="Inter"/>
              </a:defRPr>
            </a:pPr>
            <a:r>
              <a:t>• Advisory Is Inaccessible: High net worth advisory services are expensive and locked behind high capital minimums, leaving retail customers underserved.</a:t>
            </a:r>
          </a:p>
          <a:p>
            <a:pPr>
              <a:spcBef>
                <a:spcPts val="1400"/>
              </a:spcBef>
              <a:defRPr sz="1400">
                <a:solidFill>
                  <a:srgbClr val="94A3B8"/>
                </a:solidFill>
                <a:latin typeface="Inter"/>
              </a:defRPr>
            </a:pPr>
            <a:r>
              <a:t>• Fragmented Data: Investment behaviors, daily transactions, and savings habits are scattered, restricting banks from providing comprehensive advice.</a:t>
            </a:r>
          </a:p>
          <a:p>
            <a:pPr>
              <a:spcBef>
                <a:spcPts val="1400"/>
              </a:spcBef>
              <a:defRPr sz="1400">
                <a:solidFill>
                  <a:srgbClr val="94A3B8"/>
                </a:solidFill>
                <a:latin typeface="Inter"/>
              </a:defRPr>
            </a:pPr>
            <a:r>
              <a:t>• Lack of Timely Guidance: Manual reviews are slow. Users need instantaneous, proactive alerts on budget drifts and portfolio rebalancing.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0" y="1645920"/>
            <a:ext cx="5303520" cy="4114800"/>
          </a:xfrm>
          <a:prstGeom prst="rect">
            <a:avLst/>
          </a:prstGeom>
          <a:solidFill>
            <a:srgbClr val="161E31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0" rIns="365760" tIns="365760"/>
          <a:lstStyle/>
          <a:p>
            <a:pPr algn="ctr">
              <a:defRPr sz="1800" b="1">
                <a:solidFill>
                  <a:srgbClr val="06B6D4"/>
                </a:solidFill>
                <a:latin typeface="Outfit"/>
              </a:defRPr>
            </a:pPr>
            <a:r>
              <a:t>THE IMPACT OF INACTION</a:t>
            </a:r>
          </a:p>
          <a:p>
            <a:pPr>
              <a:spcBef>
                <a:spcPts val="1400"/>
              </a:spcBef>
              <a:defRPr sz="1500">
                <a:solidFill>
                  <a:srgbClr val="F8FAFC"/>
                </a:solidFill>
                <a:latin typeface="Inter"/>
              </a:defRPr>
            </a:pPr>
            <a:r>
              <a:t>Traditional banks lose customer engagement to third-party robo-advisors. Without unified wealth intelligence, banks cannot effectively upsell wealth products (mutual funds, deposits) because they lack dynamic, context-aware user profiles.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6B6D4"/>
                </a:solidFill>
                <a:latin typeface="Outfit"/>
              </a:defRPr>
            </a:pPr>
            <a:r>
              <a:t>Introducing Aura: The AI Advisor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80160"/>
            <a:ext cx="18288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828800"/>
            <a:ext cx="3383280" cy="3931920"/>
          </a:xfrm>
          <a:prstGeom prst="rect">
            <a:avLst/>
          </a:prstGeom>
          <a:solidFill>
            <a:srgbClr val="161E31"/>
          </a:solidFill>
          <a:ln w="127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6B6D4"/>
                </a:solidFill>
                <a:latin typeface="Outfit"/>
              </a:defRPr>
            </a:pPr>
            <a:r>
              <a:t>01. Conversational Avatar Interface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  <a:latin typeface="Inter"/>
              </a:defRPr>
            </a:pPr>
            <a:r>
              <a:t>Interactive 3D/SVG visual advisor ('Aura') featuring lip-sync and auditory feedback, providing human-like advisory scaled to millions of banking customers.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343400" y="1828800"/>
            <a:ext cx="3383280" cy="3931920"/>
          </a:xfrm>
          <a:prstGeom prst="rect">
            <a:avLst/>
          </a:prstGeom>
          <a:solidFill>
            <a:srgbClr val="161E31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6B6D4"/>
                </a:solidFill>
                <a:latin typeface="Outfit"/>
              </a:defRPr>
            </a:pPr>
            <a:r>
              <a:t>02. Unified Wealth Analytics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  <a:latin typeface="Inter"/>
              </a:defRPr>
            </a:pPr>
            <a:r>
              <a:t>Integrates transaction history, savings rate, and credit debt to model holistic spending insights and dynamic wealth trajectories.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8001000" y="1828800"/>
            <a:ext cx="3383280" cy="3931920"/>
          </a:xfrm>
          <a:prstGeom prst="rect">
            <a:avLst/>
          </a:prstGeom>
          <a:solidFill>
            <a:srgbClr val="161E31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rIns="274320" tIns="274320"/>
          <a:lstStyle/>
          <a:p>
            <a:pPr algn="ctr">
              <a:defRPr sz="1600" b="1">
                <a:solidFill>
                  <a:srgbClr val="06B6D4"/>
                </a:solidFill>
                <a:latin typeface="Outfit"/>
              </a:defRPr>
            </a:pPr>
            <a:r>
              <a:t>03. Automated Asset Rebalancing</a:t>
            </a:r>
          </a:p>
          <a:p>
            <a:pPr>
              <a:spcBef>
                <a:spcPts val="1400"/>
              </a:spcBef>
              <a:defRPr sz="1300">
                <a:solidFill>
                  <a:srgbClr val="F8FAFC"/>
                </a:solidFill>
                <a:latin typeface="Inter"/>
              </a:defRPr>
            </a:pPr>
            <a:r>
              <a:t>One-click drift correction that realigns portfolios back to target models dynamically computed from active risk profile assessments.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6B6D4"/>
                </a:solidFill>
                <a:latin typeface="Outfit"/>
              </a:defRPr>
            </a:pPr>
            <a:r>
              <a:t>Technical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80160"/>
            <a:ext cx="18288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85800" y="1645920"/>
            <a:ext cx="3291840" cy="4114800"/>
          </a:xfrm>
          <a:prstGeom prst="rect">
            <a:avLst/>
          </a:prstGeom>
          <a:solidFill>
            <a:srgbClr val="161E31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600" b="1">
                <a:solidFill>
                  <a:srgbClr val="06B6D4"/>
                </a:solidFill>
                <a:latin typeface="Outfit"/>
              </a:defRPr>
            </a:pPr>
            <a:r>
              <a:t>FRONTEND (MOBILE INTERACTION)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Inter"/>
              </a:defRPr>
            </a:pPr>
            <a:r>
              <a:t>• Vite + React SPA structure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Inter"/>
              </a:defRPr>
            </a:pPr>
            <a:r>
              <a:t>• High-performance custom SVG animations for lipsync/state indicators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Inter"/>
              </a:defRPr>
            </a:pPr>
            <a:r>
              <a:t>• Web Speech API integration for local Speech-to-Text &amp; Text-to-Speech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Inter"/>
              </a:defRPr>
            </a:pPr>
            <a:r>
              <a:t>• Custom responsive CSS dashboard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645920"/>
            <a:ext cx="3291840" cy="4114800"/>
          </a:xfrm>
          <a:prstGeom prst="rect">
            <a:avLst/>
          </a:prstGeom>
          <a:solidFill>
            <a:srgbClr val="161E31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600" b="1">
                <a:solidFill>
                  <a:srgbClr val="8B5CF6"/>
                </a:solidFill>
                <a:latin typeface="Outfit"/>
              </a:defRPr>
            </a:pPr>
            <a:r>
              <a:t>AI ENGINE (GEMINI PRO / VERTEX)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Inter"/>
              </a:defRPr>
            </a:pPr>
            <a:r>
              <a:t>• Gemini Flash 2.5 API integration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Inter"/>
              </a:defRPr>
            </a:pPr>
            <a:r>
              <a:t>• System context framing models: certified personal banker profile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Inter"/>
              </a:defRPr>
            </a:pPr>
            <a:r>
              <a:t>• Real-time data injection (spending history, risk metrics)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Inter"/>
              </a:defRPr>
            </a:pPr>
            <a:r>
              <a:t>• Structured JSON responses for automated goal calculations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8046720" y="1645920"/>
            <a:ext cx="3383280" cy="4114800"/>
          </a:xfrm>
          <a:prstGeom prst="rect">
            <a:avLst/>
          </a:prstGeom>
          <a:solidFill>
            <a:srgbClr val="161E31"/>
          </a:solidFill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600" b="1">
                <a:solidFill>
                  <a:srgbClr val="06B6D4"/>
                </a:solidFill>
                <a:latin typeface="Outfit"/>
              </a:defRPr>
            </a:pPr>
            <a:r>
              <a:t>CORE BANK INTEGRATION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Inter"/>
              </a:defRPr>
            </a:pPr>
            <a:r>
              <a:t>• Open Banking APIs for live balance syncing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Inter"/>
              </a:defRPr>
            </a:pPr>
            <a:r>
              <a:t>• Risk profiling engine questionnaire triggers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Inter"/>
              </a:defRPr>
            </a:pPr>
            <a:r>
              <a:t>• Brokerage API calls for rebalancing trade executions</a:t>
            </a:r>
          </a:p>
          <a:p>
            <a:pPr>
              <a:spcBef>
                <a:spcPts val="800"/>
              </a:spcBef>
              <a:defRPr sz="1200">
                <a:solidFill>
                  <a:srgbClr val="94A3B8"/>
                </a:solidFill>
                <a:latin typeface="Inter"/>
              </a:defRPr>
            </a:pPr>
            <a:r>
              <a:t>• Notification triggers for budget deviations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C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457200"/>
            <a:ext cx="108200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6B6D4"/>
                </a:solidFill>
                <a:latin typeface="Outfit"/>
              </a:defRPr>
            </a:pPr>
            <a:r>
              <a:t>Business &amp; Value Proposition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80160"/>
            <a:ext cx="1828800" cy="3657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Outfit"/>
              </a:defRPr>
            </a:pPr>
            <a:r>
              <a:t>Value for Banking Customers:</a:t>
            </a:r>
          </a:p>
          <a:p>
            <a:pPr>
              <a:spcBef>
                <a:spcPts val="1200"/>
              </a:spcBef>
              <a:defRPr sz="1400">
                <a:solidFill>
                  <a:srgbClr val="94A3B8"/>
                </a:solidFill>
                <a:latin typeface="Inter"/>
              </a:defRPr>
            </a:pPr>
            <a:r>
              <a:t>• Hyper-Personalization: Guidance calibrated directly to their personal transactions rather than generic articles.</a:t>
            </a:r>
          </a:p>
          <a:p>
            <a:pPr>
              <a:spcBef>
                <a:spcPts val="1200"/>
              </a:spcBef>
              <a:defRPr sz="1400">
                <a:solidFill>
                  <a:srgbClr val="94A3B8"/>
                </a:solidFill>
                <a:latin typeface="Inter"/>
              </a:defRPr>
            </a:pPr>
            <a:r>
              <a:t>• Increased Accessibility: Demystifies investment terms via natural chat or voice discussion.</a:t>
            </a:r>
          </a:p>
          <a:p>
            <a:pPr>
              <a:spcBef>
                <a:spcPts val="1200"/>
              </a:spcBef>
              <a:defRPr sz="1400">
                <a:solidFill>
                  <a:srgbClr val="94A3B8"/>
                </a:solidFill>
                <a:latin typeface="Inter"/>
              </a:defRPr>
            </a:pPr>
            <a:r>
              <a:t>• Clear Actionable Steps: Simplifies rebalancing and budget adjustments into single-tap workflows.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  <a:latin typeface="Outfit"/>
              </a:defRPr>
            </a:pPr>
            <a:r>
              <a:t>Value for the Financial Institution:</a:t>
            </a:r>
          </a:p>
          <a:p>
            <a:pPr>
              <a:spcBef>
                <a:spcPts val="1200"/>
              </a:spcBef>
              <a:defRPr sz="1400">
                <a:solidFill>
                  <a:srgbClr val="94A3B8"/>
                </a:solidFill>
                <a:latin typeface="Inter"/>
              </a:defRPr>
            </a:pPr>
            <a:r>
              <a:t>• Drive Asset growth (AUM): Seamlessly guide excess cash into appropriate mutual funds and fixed deposits.</a:t>
            </a:r>
          </a:p>
          <a:p>
            <a:pPr>
              <a:spcBef>
                <a:spcPts val="1200"/>
              </a:spcBef>
              <a:defRPr sz="1400">
                <a:solidFill>
                  <a:srgbClr val="94A3B8"/>
                </a:solidFill>
                <a:latin typeface="Inter"/>
              </a:defRPr>
            </a:pPr>
            <a:r>
              <a:t>• Boost Retention: Interactive features and helpful notifications foster persistent daily banking interactions.</a:t>
            </a:r>
          </a:p>
          <a:p>
            <a:pPr>
              <a:spcBef>
                <a:spcPts val="1200"/>
              </a:spcBef>
              <a:defRPr sz="1400">
                <a:solidFill>
                  <a:srgbClr val="94A3B8"/>
                </a:solidFill>
                <a:latin typeface="Inter"/>
              </a:defRPr>
            </a:pPr>
            <a:r>
              <a:t>• Reduce Operational Costs: Minimizes dependencies on human relationship managers for routine portfolio checkups.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